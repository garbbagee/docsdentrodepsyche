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Monterchi Serif Bold" charset="1" panose="02000503060000020004"/>
      <p:regular r:id="rId23"/>
    </p:embeddedFont>
    <p:embeddedFont>
      <p:font typeface="Source Serif Pro" charset="1" panose="02040603050405020204"/>
      <p:regular r:id="rId24"/>
    </p:embeddedFont>
    <p:embeddedFont>
      <p:font typeface="Source Serif Pro Bold" charset="1" panose="02040803050405020204"/>
      <p:regular r:id="rId25"/>
    </p:embeddedFont>
    <p:embeddedFont>
      <p:font typeface="Monterchi Serif" charset="1" panose="0200050306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66580">
            <a:off x="9654716" y="2742945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631316">
            <a:off x="-341565" y="-1602678"/>
            <a:ext cx="8656207" cy="8953145"/>
          </a:xfrm>
          <a:custGeom>
            <a:avLst/>
            <a:gdLst/>
            <a:ahLst/>
            <a:cxnLst/>
            <a:rect r="r" b="b" t="t" l="l"/>
            <a:pathLst>
              <a:path h="8953145" w="8656207">
                <a:moveTo>
                  <a:pt x="0" y="0"/>
                </a:moveTo>
                <a:lnTo>
                  <a:pt x="8656206" y="0"/>
                </a:lnTo>
                <a:lnTo>
                  <a:pt x="8656206" y="8953145"/>
                </a:lnTo>
                <a:lnTo>
                  <a:pt x="0" y="8953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0749" y="1468727"/>
            <a:ext cx="8343860" cy="9123127"/>
          </a:xfrm>
          <a:custGeom>
            <a:avLst/>
            <a:gdLst/>
            <a:ahLst/>
            <a:cxnLst/>
            <a:rect r="r" b="b" t="t" l="l"/>
            <a:pathLst>
              <a:path h="9123127" w="8343860">
                <a:moveTo>
                  <a:pt x="0" y="0"/>
                </a:moveTo>
                <a:lnTo>
                  <a:pt x="8343860" y="0"/>
                </a:lnTo>
                <a:lnTo>
                  <a:pt x="8343860" y="9123127"/>
                </a:lnTo>
                <a:lnTo>
                  <a:pt x="0" y="9123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0613756" y="-239704"/>
            <a:ext cx="7797854" cy="8526128"/>
          </a:xfrm>
          <a:custGeom>
            <a:avLst/>
            <a:gdLst/>
            <a:ahLst/>
            <a:cxnLst/>
            <a:rect r="r" b="b" t="t" l="l"/>
            <a:pathLst>
              <a:path h="8526128" w="7797854">
                <a:moveTo>
                  <a:pt x="0" y="0"/>
                </a:moveTo>
                <a:lnTo>
                  <a:pt x="7797854" y="0"/>
                </a:lnTo>
                <a:lnTo>
                  <a:pt x="7797854" y="8526127"/>
                </a:lnTo>
                <a:lnTo>
                  <a:pt x="0" y="8526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29098" y="1111772"/>
            <a:ext cx="14029804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352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Proyecto Centro Terapéutico</a:t>
            </a:r>
          </a:p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 spc="352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“Dentro de Psyché”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74480" y="7242096"/>
            <a:ext cx="4739040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65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Docente: Francia Berna</a:t>
            </a:r>
          </a:p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65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Sección: 002D</a:t>
            </a:r>
          </a:p>
          <a:p>
            <a:pPr algn="ctr" marL="647695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65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Fecha: 21/11/2025</a:t>
            </a:r>
            <a:r>
              <a:rPr lang="en-US" b="true" sz="2999" spc="65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09883" y="3908946"/>
            <a:ext cx="7068235" cy="3148297"/>
          </a:xfrm>
          <a:custGeom>
            <a:avLst/>
            <a:gdLst/>
            <a:ahLst/>
            <a:cxnLst/>
            <a:rect r="r" b="b" t="t" l="l"/>
            <a:pathLst>
              <a:path h="3148297" w="7068235">
                <a:moveTo>
                  <a:pt x="0" y="0"/>
                </a:moveTo>
                <a:lnTo>
                  <a:pt x="7068234" y="0"/>
                </a:lnTo>
                <a:lnTo>
                  <a:pt x="7068234" y="3148297"/>
                </a:lnTo>
                <a:lnTo>
                  <a:pt x="0" y="3148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05" t="-70608" r="-9645" b="-8455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0569">
            <a:off x="-133144" y="2697905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487580">
            <a:off x="8471676" y="-2760733"/>
            <a:ext cx="12810333" cy="13249773"/>
          </a:xfrm>
          <a:custGeom>
            <a:avLst/>
            <a:gdLst/>
            <a:ahLst/>
            <a:cxnLst/>
            <a:rect r="r" b="b" t="t" l="l"/>
            <a:pathLst>
              <a:path h="13249773" w="12810333">
                <a:moveTo>
                  <a:pt x="0" y="0"/>
                </a:moveTo>
                <a:lnTo>
                  <a:pt x="12810334" y="0"/>
                </a:lnTo>
                <a:lnTo>
                  <a:pt x="12810334" y="13249773"/>
                </a:lnTo>
                <a:lnTo>
                  <a:pt x="0" y="13249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2254268" y="1120891"/>
            <a:ext cx="9352494" cy="5237396"/>
          </a:xfrm>
          <a:custGeom>
            <a:avLst/>
            <a:gdLst/>
            <a:ahLst/>
            <a:cxnLst/>
            <a:rect r="r" b="b" t="t" l="l"/>
            <a:pathLst>
              <a:path h="5237396" w="9352494">
                <a:moveTo>
                  <a:pt x="0" y="0"/>
                </a:moveTo>
                <a:lnTo>
                  <a:pt x="9352494" y="0"/>
                </a:lnTo>
                <a:lnTo>
                  <a:pt x="9352494" y="5237396"/>
                </a:lnTo>
                <a:lnTo>
                  <a:pt x="0" y="5237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16300" y="770943"/>
            <a:ext cx="13079504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488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INTEGRANTES DEL PROYECTO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1440073" y="3315091"/>
            <a:ext cx="9352494" cy="5237396"/>
          </a:xfrm>
          <a:custGeom>
            <a:avLst/>
            <a:gdLst/>
            <a:ahLst/>
            <a:cxnLst/>
            <a:rect r="r" b="b" t="t" l="l"/>
            <a:pathLst>
              <a:path h="5237396" w="9352494">
                <a:moveTo>
                  <a:pt x="0" y="0"/>
                </a:moveTo>
                <a:lnTo>
                  <a:pt x="9352493" y="0"/>
                </a:lnTo>
                <a:lnTo>
                  <a:pt x="9352493" y="5237397"/>
                </a:lnTo>
                <a:lnTo>
                  <a:pt x="0" y="523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04248" y="3842566"/>
            <a:ext cx="13079504" cy="457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81" u="sng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Orlando Godoy</a:t>
            </a: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: </a:t>
            </a:r>
            <a:r>
              <a:rPr lang="en-US" b="true" sz="3699" spc="81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Desarrollador</a:t>
            </a: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y </a:t>
            </a:r>
            <a:r>
              <a:rPr lang="en-US" b="true" sz="3699" spc="81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líder de proyecto</a:t>
            </a: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programación backend y frontend.</a:t>
            </a:r>
          </a:p>
          <a:p>
            <a:pPr algn="l">
              <a:lnSpc>
                <a:spcPts val="5179"/>
              </a:lnSpc>
            </a:pP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81" u="sng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Miguel Román</a:t>
            </a: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: </a:t>
            </a:r>
            <a:r>
              <a:rPr lang="en-US" b="true" sz="3699" spc="81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Desarrollador</a:t>
            </a: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y </a:t>
            </a:r>
            <a:r>
              <a:rPr lang="en-US" b="true" sz="3699" spc="81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Scrum Master</a:t>
            </a: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programación backend y frontend.</a:t>
            </a:r>
          </a:p>
          <a:p>
            <a:pPr algn="l">
              <a:lnSpc>
                <a:spcPts val="5179"/>
              </a:lnSpc>
            </a:pP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81" u="sng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Felipe Ríos</a:t>
            </a: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: </a:t>
            </a:r>
            <a:r>
              <a:rPr lang="en-US" b="true" sz="3699" spc="81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Desarrollador backend</a:t>
            </a: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y </a:t>
            </a:r>
            <a:r>
              <a:rPr lang="en-US" b="true" sz="3699" spc="81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frontend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596820">
            <a:off x="9935249" y="3401101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301578">
            <a:off x="-1413494" y="-1790161"/>
            <a:ext cx="10501467" cy="10861705"/>
          </a:xfrm>
          <a:custGeom>
            <a:avLst/>
            <a:gdLst/>
            <a:ahLst/>
            <a:cxnLst/>
            <a:rect r="r" b="b" t="t" l="l"/>
            <a:pathLst>
              <a:path h="10861705" w="10501467">
                <a:moveTo>
                  <a:pt x="0" y="0"/>
                </a:moveTo>
                <a:lnTo>
                  <a:pt x="10501467" y="0"/>
                </a:lnTo>
                <a:lnTo>
                  <a:pt x="10501467" y="10861705"/>
                </a:lnTo>
                <a:lnTo>
                  <a:pt x="0" y="1086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616663" y="-622373"/>
            <a:ext cx="5760136" cy="6298099"/>
          </a:xfrm>
          <a:custGeom>
            <a:avLst/>
            <a:gdLst/>
            <a:ahLst/>
            <a:cxnLst/>
            <a:rect r="r" b="b" t="t" l="l"/>
            <a:pathLst>
              <a:path h="6298099" w="5760136">
                <a:moveTo>
                  <a:pt x="0" y="0"/>
                </a:moveTo>
                <a:lnTo>
                  <a:pt x="5760136" y="0"/>
                </a:lnTo>
                <a:lnTo>
                  <a:pt x="5760136" y="6298099"/>
                </a:lnTo>
                <a:lnTo>
                  <a:pt x="0" y="62980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5291">
            <a:off x="-316005" y="5105494"/>
            <a:ext cx="5485886" cy="5998235"/>
          </a:xfrm>
          <a:custGeom>
            <a:avLst/>
            <a:gdLst/>
            <a:ahLst/>
            <a:cxnLst/>
            <a:rect r="r" b="b" t="t" l="l"/>
            <a:pathLst>
              <a:path h="5998235" w="5485886">
                <a:moveTo>
                  <a:pt x="0" y="0"/>
                </a:moveTo>
                <a:lnTo>
                  <a:pt x="5485886" y="0"/>
                </a:lnTo>
                <a:lnTo>
                  <a:pt x="5485886" y="5998235"/>
                </a:lnTo>
                <a:lnTo>
                  <a:pt x="0" y="5998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59116" y="6087556"/>
            <a:ext cx="4514114" cy="4514114"/>
          </a:xfrm>
          <a:custGeom>
            <a:avLst/>
            <a:gdLst/>
            <a:ahLst/>
            <a:cxnLst/>
            <a:rect r="r" b="b" t="t" l="l"/>
            <a:pathLst>
              <a:path h="4514114" w="4514114">
                <a:moveTo>
                  <a:pt x="0" y="0"/>
                </a:moveTo>
                <a:lnTo>
                  <a:pt x="4514114" y="0"/>
                </a:lnTo>
                <a:lnTo>
                  <a:pt x="4514114" y="4514114"/>
                </a:lnTo>
                <a:lnTo>
                  <a:pt x="0" y="4514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04690" y="1202291"/>
            <a:ext cx="15622965" cy="194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 spc="351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DESCRIPCIÓN DEL PROYECTO: 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4345" y="3948442"/>
            <a:ext cx="17743655" cy="233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1"/>
              </a:lnSpc>
              <a:spcBef>
                <a:spcPct val="0"/>
              </a:spcBef>
            </a:pPr>
            <a:r>
              <a:rPr lang="en-US" sz="3322" spc="73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Cada vez más personas enfrentan </a:t>
            </a:r>
            <a:r>
              <a:rPr lang="en-US" b="true" sz="3322" spc="73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ansiedad</a:t>
            </a:r>
            <a:r>
              <a:rPr lang="en-US" sz="3322" spc="73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</a:t>
            </a:r>
            <a:r>
              <a:rPr lang="en-US" b="true" sz="3322" spc="73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depresión</a:t>
            </a:r>
            <a:r>
              <a:rPr lang="en-US" sz="3322" spc="73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o </a:t>
            </a:r>
            <a:r>
              <a:rPr lang="en-US" b="true" sz="3322" spc="73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estrés</a:t>
            </a:r>
            <a:r>
              <a:rPr lang="en-US" sz="3322" spc="73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pero no buscan ayuda profesional debido al estigma, la falta de acceso a atención psicológica y la inexistencia de herramientas que les permitan identificar y hacer seguimiento a su bienestar emocional.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596820">
            <a:off x="9935249" y="3401101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301578">
            <a:off x="-1413494" y="-1790161"/>
            <a:ext cx="10501467" cy="10861705"/>
          </a:xfrm>
          <a:custGeom>
            <a:avLst/>
            <a:gdLst/>
            <a:ahLst/>
            <a:cxnLst/>
            <a:rect r="r" b="b" t="t" l="l"/>
            <a:pathLst>
              <a:path h="10861705" w="10501467">
                <a:moveTo>
                  <a:pt x="0" y="0"/>
                </a:moveTo>
                <a:lnTo>
                  <a:pt x="10501467" y="0"/>
                </a:lnTo>
                <a:lnTo>
                  <a:pt x="10501467" y="10861705"/>
                </a:lnTo>
                <a:lnTo>
                  <a:pt x="0" y="1086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303040" y="-622373"/>
            <a:ext cx="6073759" cy="6641012"/>
          </a:xfrm>
          <a:custGeom>
            <a:avLst/>
            <a:gdLst/>
            <a:ahLst/>
            <a:cxnLst/>
            <a:rect r="r" b="b" t="t" l="l"/>
            <a:pathLst>
              <a:path h="6641012" w="6073759">
                <a:moveTo>
                  <a:pt x="0" y="0"/>
                </a:moveTo>
                <a:lnTo>
                  <a:pt x="6073759" y="0"/>
                </a:lnTo>
                <a:lnTo>
                  <a:pt x="6073759" y="6641013"/>
                </a:lnTo>
                <a:lnTo>
                  <a:pt x="0" y="6641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5291">
            <a:off x="-427482" y="3466469"/>
            <a:ext cx="6979293" cy="7631118"/>
          </a:xfrm>
          <a:custGeom>
            <a:avLst/>
            <a:gdLst/>
            <a:ahLst/>
            <a:cxnLst/>
            <a:rect r="r" b="b" t="t" l="l"/>
            <a:pathLst>
              <a:path h="7631118" w="6979293">
                <a:moveTo>
                  <a:pt x="0" y="0"/>
                </a:moveTo>
                <a:lnTo>
                  <a:pt x="6979293" y="0"/>
                </a:lnTo>
                <a:lnTo>
                  <a:pt x="6979293" y="7631118"/>
                </a:lnTo>
                <a:lnTo>
                  <a:pt x="0" y="76311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34673" y="5508009"/>
            <a:ext cx="5218654" cy="5218654"/>
          </a:xfrm>
          <a:custGeom>
            <a:avLst/>
            <a:gdLst/>
            <a:ahLst/>
            <a:cxnLst/>
            <a:rect r="r" b="b" t="t" l="l"/>
            <a:pathLst>
              <a:path h="5218654" w="5218654">
                <a:moveTo>
                  <a:pt x="0" y="0"/>
                </a:moveTo>
                <a:lnTo>
                  <a:pt x="5218654" y="0"/>
                </a:lnTo>
                <a:lnTo>
                  <a:pt x="5218654" y="5218653"/>
                </a:lnTo>
                <a:lnTo>
                  <a:pt x="0" y="5218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38660" y="2698134"/>
            <a:ext cx="14555026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  <a:spcBef>
                <a:spcPct val="0"/>
              </a:spcBef>
            </a:pPr>
            <a:r>
              <a:rPr lang="en-US" b="true" sz="3699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Dentro de Psyche</a:t>
            </a:r>
            <a:r>
              <a:rPr lang="en-US" sz="3699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es un </a:t>
            </a:r>
            <a:r>
              <a:rPr lang="en-US" b="true" sz="3699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sistema web</a:t>
            </a:r>
            <a:r>
              <a:rPr lang="en-US" sz="3699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que impulsa el bienestar mental mediante evaluaciones periódicas y orientación personalizada. Su </a:t>
            </a:r>
            <a:r>
              <a:rPr lang="en-US" b="true" sz="3699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objetivo</a:t>
            </a:r>
            <a:r>
              <a:rPr lang="en-US" sz="3699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es acercar el apoyo psicológico al día a día de las personas, promoviendo la prevención y el cuidado emocional a través de una experiencia accesible e interactiva.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2518" y="1345333"/>
            <a:ext cx="15622965" cy="97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 spc="351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PROPUESTA DE SOLUCIÓN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416338">
            <a:off x="10677802" y="-2464516"/>
            <a:ext cx="8483500" cy="8774514"/>
          </a:xfrm>
          <a:custGeom>
            <a:avLst/>
            <a:gdLst/>
            <a:ahLst/>
            <a:cxnLst/>
            <a:rect r="r" b="b" t="t" l="l"/>
            <a:pathLst>
              <a:path h="8774514" w="8483500">
                <a:moveTo>
                  <a:pt x="0" y="0"/>
                </a:moveTo>
                <a:lnTo>
                  <a:pt x="8483500" y="0"/>
                </a:lnTo>
                <a:lnTo>
                  <a:pt x="8483500" y="8774514"/>
                </a:lnTo>
                <a:lnTo>
                  <a:pt x="0" y="877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596820">
            <a:off x="10754572" y="1739819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83636" y="893726"/>
            <a:ext cx="572072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b="true" sz="8000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OBJETIVOS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33254" y="2748653"/>
            <a:ext cx="544964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 u="sng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ESPECÍFICOS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95976" y="2748653"/>
            <a:ext cx="433476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 u="sng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GENERALES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8694" y="3888088"/>
            <a:ext cx="8349324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Desarrollar una </a:t>
            </a:r>
            <a:r>
              <a:rPr lang="en-US" b="true" sz="2700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plataforma web</a:t>
            </a: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integral para la gestión clínica y administrativa de un centro terapéutico, que optimice la adherencia y continuidad del tratamiento psicológico mediante soluciones seguras, escalables y confiables.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31145" y="3888088"/>
            <a:ext cx="8428155" cy="614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Digitalizar </a:t>
            </a: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y </a:t>
            </a:r>
            <a:r>
              <a:rPr lang="en-US" b="true" sz="2700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gestionar </a:t>
            </a: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fichas clínicas de pacientes de forma segura.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Crear la aplicación bajo el tipo de modelo </a:t>
            </a:r>
            <a:r>
              <a:rPr lang="en-US" b="true" sz="2700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PWA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Implementar un </a:t>
            </a:r>
            <a:r>
              <a:rPr lang="en-US" b="true" sz="2700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sistema de recordatorios automáticos</a:t>
            </a: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de citas y tareas terapéuticas.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Facilitar</a:t>
            </a: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la comunicación segura entre </a:t>
            </a:r>
            <a:r>
              <a:rPr lang="en-US" b="true" sz="2700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pacientes </a:t>
            </a: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y </a:t>
            </a:r>
            <a:r>
              <a:rPr lang="en-US" b="true" sz="2700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psicólogos </a:t>
            </a: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través de mensajería interna.</a:t>
            </a:r>
          </a:p>
          <a:p>
            <a:pPr algn="l">
              <a:lnSpc>
                <a:spcPts val="3240"/>
              </a:lnSpc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Aplicar metodologías ágiles (</a:t>
            </a:r>
            <a:r>
              <a:rPr lang="en-US" b="true" sz="2700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SCRUM</a:t>
            </a:r>
            <a:r>
              <a:rPr lang="en-US" sz="270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) para planificar, desarrollar y evaluar los avances del proyecto.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596820">
            <a:off x="9935249" y="3401101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301578">
            <a:off x="-1413494" y="-1790161"/>
            <a:ext cx="10501467" cy="10861705"/>
          </a:xfrm>
          <a:custGeom>
            <a:avLst/>
            <a:gdLst/>
            <a:ahLst/>
            <a:cxnLst/>
            <a:rect r="r" b="b" t="t" l="l"/>
            <a:pathLst>
              <a:path h="10861705" w="10501467">
                <a:moveTo>
                  <a:pt x="0" y="0"/>
                </a:moveTo>
                <a:lnTo>
                  <a:pt x="10501467" y="0"/>
                </a:lnTo>
                <a:lnTo>
                  <a:pt x="10501467" y="10861705"/>
                </a:lnTo>
                <a:lnTo>
                  <a:pt x="0" y="1086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1578945" y="-622373"/>
            <a:ext cx="7797854" cy="8526128"/>
          </a:xfrm>
          <a:custGeom>
            <a:avLst/>
            <a:gdLst/>
            <a:ahLst/>
            <a:cxnLst/>
            <a:rect r="r" b="b" t="t" l="l"/>
            <a:pathLst>
              <a:path h="8526128" w="7797854">
                <a:moveTo>
                  <a:pt x="0" y="0"/>
                </a:moveTo>
                <a:lnTo>
                  <a:pt x="7797854" y="0"/>
                </a:lnTo>
                <a:lnTo>
                  <a:pt x="7797854" y="8526128"/>
                </a:lnTo>
                <a:lnTo>
                  <a:pt x="0" y="852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68128" y="4351978"/>
            <a:ext cx="4692757" cy="4692757"/>
          </a:xfrm>
          <a:custGeom>
            <a:avLst/>
            <a:gdLst/>
            <a:ahLst/>
            <a:cxnLst/>
            <a:rect r="r" b="b" t="t" l="l"/>
            <a:pathLst>
              <a:path h="4692757" w="4692757">
                <a:moveTo>
                  <a:pt x="0" y="0"/>
                </a:moveTo>
                <a:lnTo>
                  <a:pt x="4692758" y="0"/>
                </a:lnTo>
                <a:lnTo>
                  <a:pt x="4692758" y="4692758"/>
                </a:lnTo>
                <a:lnTo>
                  <a:pt x="0" y="4692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2518" y="1028700"/>
            <a:ext cx="15622965" cy="194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 spc="351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ALCANCES Y LIMITACIONES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0823" y="3396788"/>
            <a:ext cx="10137014" cy="654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b="true" sz="3699" spc="225" u="sng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Alcances</a:t>
            </a:r>
          </a:p>
          <a:p>
            <a:pPr algn="ctr">
              <a:lnSpc>
                <a:spcPts val="5179"/>
              </a:lnSpc>
            </a:pP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225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Desarrollo completo de funcionalidades planificadas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225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Cumplimiento de objetivos definidos inicialmente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225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Sistema operativo alineado con propuesta original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225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Experiencia funcional y coherente para usuarios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596820">
            <a:off x="9935249" y="3401101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301578">
            <a:off x="-1413494" y="-1790161"/>
            <a:ext cx="10501467" cy="10861705"/>
          </a:xfrm>
          <a:custGeom>
            <a:avLst/>
            <a:gdLst/>
            <a:ahLst/>
            <a:cxnLst/>
            <a:rect r="r" b="b" t="t" l="l"/>
            <a:pathLst>
              <a:path h="10861705" w="10501467">
                <a:moveTo>
                  <a:pt x="0" y="0"/>
                </a:moveTo>
                <a:lnTo>
                  <a:pt x="10501467" y="0"/>
                </a:lnTo>
                <a:lnTo>
                  <a:pt x="10501467" y="10861705"/>
                </a:lnTo>
                <a:lnTo>
                  <a:pt x="0" y="1086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1578945" y="-622373"/>
            <a:ext cx="7797854" cy="8526128"/>
          </a:xfrm>
          <a:custGeom>
            <a:avLst/>
            <a:gdLst/>
            <a:ahLst/>
            <a:cxnLst/>
            <a:rect r="r" b="b" t="t" l="l"/>
            <a:pathLst>
              <a:path h="8526128" w="7797854">
                <a:moveTo>
                  <a:pt x="0" y="0"/>
                </a:moveTo>
                <a:lnTo>
                  <a:pt x="7797854" y="0"/>
                </a:lnTo>
                <a:lnTo>
                  <a:pt x="7797854" y="8526128"/>
                </a:lnTo>
                <a:lnTo>
                  <a:pt x="0" y="852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70935" y="3852682"/>
            <a:ext cx="4910001" cy="4910001"/>
          </a:xfrm>
          <a:custGeom>
            <a:avLst/>
            <a:gdLst/>
            <a:ahLst/>
            <a:cxnLst/>
            <a:rect r="r" b="b" t="t" l="l"/>
            <a:pathLst>
              <a:path h="4910001" w="4910001">
                <a:moveTo>
                  <a:pt x="0" y="0"/>
                </a:moveTo>
                <a:lnTo>
                  <a:pt x="4910001" y="0"/>
                </a:lnTo>
                <a:lnTo>
                  <a:pt x="4910001" y="4910001"/>
                </a:lnTo>
                <a:lnTo>
                  <a:pt x="0" y="4910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2518" y="1192766"/>
            <a:ext cx="15622965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 spc="440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ALCANCES Y LIMITACIONES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7677" y="4644935"/>
            <a:ext cx="10511268" cy="39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 spc="225" u="sng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Limit</a:t>
            </a:r>
            <a:r>
              <a:rPr lang="en-US" b="true" sz="3699" spc="225" u="sng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aciones: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225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Sistema aún no alojado en </a:t>
            </a:r>
            <a:r>
              <a:rPr lang="en-US" b="true" sz="3699" spc="225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servidor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225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Sin pruebas con usuarios reales en línea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225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Validaciones solo en </a:t>
            </a:r>
            <a:r>
              <a:rPr lang="en-US" b="true" sz="3699" spc="225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entornos locales internos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356388">
            <a:off x="-1441686" y="-1155245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553139">
            <a:off x="8102038" y="265786"/>
            <a:ext cx="12810333" cy="13249773"/>
          </a:xfrm>
          <a:custGeom>
            <a:avLst/>
            <a:gdLst/>
            <a:ahLst/>
            <a:cxnLst/>
            <a:rect r="r" b="b" t="t" l="l"/>
            <a:pathLst>
              <a:path h="13249773" w="12810333">
                <a:moveTo>
                  <a:pt x="0" y="0"/>
                </a:moveTo>
                <a:lnTo>
                  <a:pt x="12810334" y="0"/>
                </a:lnTo>
                <a:lnTo>
                  <a:pt x="12810334" y="13249774"/>
                </a:lnTo>
                <a:lnTo>
                  <a:pt x="0" y="13249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0153524" y="-568258"/>
            <a:ext cx="9352494" cy="5237396"/>
          </a:xfrm>
          <a:custGeom>
            <a:avLst/>
            <a:gdLst/>
            <a:ahLst/>
            <a:cxnLst/>
            <a:rect r="r" b="b" t="t" l="l"/>
            <a:pathLst>
              <a:path h="5237396" w="9352494">
                <a:moveTo>
                  <a:pt x="0" y="0"/>
                </a:moveTo>
                <a:lnTo>
                  <a:pt x="9352494" y="0"/>
                </a:lnTo>
                <a:lnTo>
                  <a:pt x="9352494" y="5237396"/>
                </a:lnTo>
                <a:lnTo>
                  <a:pt x="0" y="5237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37755" y="3802565"/>
            <a:ext cx="9431883" cy="4998898"/>
          </a:xfrm>
          <a:custGeom>
            <a:avLst/>
            <a:gdLst/>
            <a:ahLst/>
            <a:cxnLst/>
            <a:rect r="r" b="b" t="t" l="l"/>
            <a:pathLst>
              <a:path h="4998898" w="9431883">
                <a:moveTo>
                  <a:pt x="0" y="0"/>
                </a:moveTo>
                <a:lnTo>
                  <a:pt x="9431883" y="0"/>
                </a:lnTo>
                <a:lnTo>
                  <a:pt x="9431883" y="4998898"/>
                </a:lnTo>
                <a:lnTo>
                  <a:pt x="0" y="4998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08368" y="506779"/>
            <a:ext cx="15271264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b="true" sz="6999" spc="153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METODOLOGÍA DE TRABAJO PARA EL DESARROLLO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6490" y="4776071"/>
            <a:ext cx="8012048" cy="300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b="true" sz="2847" spc="62" u="sng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Metodología</a:t>
            </a:r>
            <a:r>
              <a:rPr lang="en-US" sz="2847" spc="62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:</a:t>
            </a:r>
          </a:p>
          <a:p>
            <a:pPr algn="l" marL="614677" indent="-307339" lvl="1">
              <a:lnSpc>
                <a:spcPts val="3985"/>
              </a:lnSpc>
              <a:buFont typeface="Arial"/>
              <a:buChar char="•"/>
            </a:pPr>
            <a:r>
              <a:rPr lang="en-US" b="true" sz="2847" spc="62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SCRUM</a:t>
            </a:r>
            <a:r>
              <a:rPr lang="en-US" sz="2847" spc="62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con </a:t>
            </a:r>
            <a:r>
              <a:rPr lang="en-US" b="true" sz="2847" spc="62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sprints de 2 semanas</a:t>
            </a:r>
            <a:r>
              <a:rPr lang="en-US" sz="2847" spc="62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.</a:t>
            </a:r>
          </a:p>
          <a:p>
            <a:pPr algn="l" marL="614677" indent="-307339" lvl="1">
              <a:lnSpc>
                <a:spcPts val="3985"/>
              </a:lnSpc>
              <a:buFont typeface="Arial"/>
              <a:buChar char="•"/>
            </a:pPr>
            <a:r>
              <a:rPr lang="en-US" sz="2847" spc="62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Permite priorizar funcionalidades </a:t>
            </a:r>
            <a:r>
              <a:rPr lang="en-US" b="true" sz="2847" spc="62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críticas</a:t>
            </a:r>
            <a:r>
              <a:rPr lang="en-US" sz="2847" spc="62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</a:t>
            </a:r>
            <a:r>
              <a:rPr lang="en-US" b="true" sz="2847" spc="62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validar</a:t>
            </a:r>
            <a:r>
              <a:rPr lang="en-US" sz="2847" spc="62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avances y entregar incrementos funcionales.</a:t>
            </a:r>
          </a:p>
          <a:p>
            <a:pPr algn="l">
              <a:lnSpc>
                <a:spcPts val="39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356388">
            <a:off x="-919416" y="-2027263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048451" y="-568258"/>
            <a:ext cx="8457567" cy="4736238"/>
          </a:xfrm>
          <a:custGeom>
            <a:avLst/>
            <a:gdLst/>
            <a:ahLst/>
            <a:cxnLst/>
            <a:rect r="r" b="b" t="t" l="l"/>
            <a:pathLst>
              <a:path h="4736238" w="8457567">
                <a:moveTo>
                  <a:pt x="0" y="0"/>
                </a:moveTo>
                <a:lnTo>
                  <a:pt x="8457567" y="0"/>
                </a:lnTo>
                <a:lnTo>
                  <a:pt x="8457567" y="4736238"/>
                </a:lnTo>
                <a:lnTo>
                  <a:pt x="0" y="4736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95452" y="7050310"/>
            <a:ext cx="6915817" cy="3872858"/>
          </a:xfrm>
          <a:custGeom>
            <a:avLst/>
            <a:gdLst/>
            <a:ahLst/>
            <a:cxnLst/>
            <a:rect r="r" b="b" t="t" l="l"/>
            <a:pathLst>
              <a:path h="3872858" w="6915817">
                <a:moveTo>
                  <a:pt x="0" y="0"/>
                </a:moveTo>
                <a:lnTo>
                  <a:pt x="6915817" y="0"/>
                </a:lnTo>
                <a:lnTo>
                  <a:pt x="6915817" y="3872858"/>
                </a:lnTo>
                <a:lnTo>
                  <a:pt x="0" y="3872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92142" y="6455581"/>
            <a:ext cx="3307970" cy="3307970"/>
          </a:xfrm>
          <a:custGeom>
            <a:avLst/>
            <a:gdLst/>
            <a:ahLst/>
            <a:cxnLst/>
            <a:rect r="r" b="b" t="t" l="l"/>
            <a:pathLst>
              <a:path h="3307970" w="3307970">
                <a:moveTo>
                  <a:pt x="0" y="0"/>
                </a:moveTo>
                <a:lnTo>
                  <a:pt x="3307970" y="0"/>
                </a:lnTo>
                <a:lnTo>
                  <a:pt x="3307970" y="3307971"/>
                </a:lnTo>
                <a:lnTo>
                  <a:pt x="0" y="33079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99134" y="1298356"/>
            <a:ext cx="7289732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 spc="176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JUSTIFICACIÓN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2765" y="2767507"/>
            <a:ext cx="9142469" cy="325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Requisitos cambiantes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Entregas incrementales y funcionales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Trabajo en equipo y roles claros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Transparencia y control del progreso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Mejora continua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021" y="1797406"/>
            <a:ext cx="17843958" cy="7762122"/>
          </a:xfrm>
          <a:custGeom>
            <a:avLst/>
            <a:gdLst/>
            <a:ahLst/>
            <a:cxnLst/>
            <a:rect r="r" b="b" t="t" l="l"/>
            <a:pathLst>
              <a:path h="7762122" w="17843958">
                <a:moveTo>
                  <a:pt x="0" y="0"/>
                </a:moveTo>
                <a:lnTo>
                  <a:pt x="17843958" y="0"/>
                </a:lnTo>
                <a:lnTo>
                  <a:pt x="17843958" y="7762122"/>
                </a:lnTo>
                <a:lnTo>
                  <a:pt x="0" y="7762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2215" y="568681"/>
            <a:ext cx="860357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b="true" sz="8000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CRONOGRAMA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5389" y="2487279"/>
            <a:ext cx="13457222" cy="7486748"/>
          </a:xfrm>
          <a:custGeom>
            <a:avLst/>
            <a:gdLst/>
            <a:ahLst/>
            <a:cxnLst/>
            <a:rect r="r" b="b" t="t" l="l"/>
            <a:pathLst>
              <a:path h="7486748" w="13457222">
                <a:moveTo>
                  <a:pt x="0" y="0"/>
                </a:moveTo>
                <a:lnTo>
                  <a:pt x="13457222" y="0"/>
                </a:lnTo>
                <a:lnTo>
                  <a:pt x="13457222" y="7486748"/>
                </a:lnTo>
                <a:lnTo>
                  <a:pt x="0" y="7486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07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3649" y="336995"/>
            <a:ext cx="15160702" cy="244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ARQUITECTURA DEL SOFTWARE</a:t>
            </a:r>
          </a:p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MVC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66580">
            <a:off x="9654716" y="2742945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631316">
            <a:off x="-341565" y="-1602678"/>
            <a:ext cx="8656207" cy="8953145"/>
          </a:xfrm>
          <a:custGeom>
            <a:avLst/>
            <a:gdLst/>
            <a:ahLst/>
            <a:cxnLst/>
            <a:rect r="r" b="b" t="t" l="l"/>
            <a:pathLst>
              <a:path h="8953145" w="8656207">
                <a:moveTo>
                  <a:pt x="0" y="0"/>
                </a:moveTo>
                <a:lnTo>
                  <a:pt x="8656206" y="0"/>
                </a:lnTo>
                <a:lnTo>
                  <a:pt x="8656206" y="8953145"/>
                </a:lnTo>
                <a:lnTo>
                  <a:pt x="0" y="8953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43614" y="698790"/>
            <a:ext cx="14000771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488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TECNOLOGIAS UTILIZADAS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335825" y="3156058"/>
            <a:ext cx="2240007" cy="2310007"/>
          </a:xfrm>
          <a:custGeom>
            <a:avLst/>
            <a:gdLst/>
            <a:ahLst/>
            <a:cxnLst/>
            <a:rect r="r" b="b" t="t" l="l"/>
            <a:pathLst>
              <a:path h="2310007" w="2240007">
                <a:moveTo>
                  <a:pt x="0" y="0"/>
                </a:moveTo>
                <a:lnTo>
                  <a:pt x="2240007" y="0"/>
                </a:lnTo>
                <a:lnTo>
                  <a:pt x="2240007" y="2310008"/>
                </a:lnTo>
                <a:lnTo>
                  <a:pt x="0" y="2310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3306" y="7338025"/>
            <a:ext cx="2059568" cy="2059568"/>
          </a:xfrm>
          <a:custGeom>
            <a:avLst/>
            <a:gdLst/>
            <a:ahLst/>
            <a:cxnLst/>
            <a:rect r="r" b="b" t="t" l="l"/>
            <a:pathLst>
              <a:path h="2059568" w="2059568">
                <a:moveTo>
                  <a:pt x="0" y="0"/>
                </a:moveTo>
                <a:lnTo>
                  <a:pt x="2059568" y="0"/>
                </a:lnTo>
                <a:lnTo>
                  <a:pt x="2059568" y="2059568"/>
                </a:lnTo>
                <a:lnTo>
                  <a:pt x="0" y="205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01253" y="7300403"/>
            <a:ext cx="2330211" cy="2097190"/>
          </a:xfrm>
          <a:custGeom>
            <a:avLst/>
            <a:gdLst/>
            <a:ahLst/>
            <a:cxnLst/>
            <a:rect r="r" b="b" t="t" l="l"/>
            <a:pathLst>
              <a:path h="2097190" w="2330211">
                <a:moveTo>
                  <a:pt x="0" y="0"/>
                </a:moveTo>
                <a:lnTo>
                  <a:pt x="2330211" y="0"/>
                </a:lnTo>
                <a:lnTo>
                  <a:pt x="2330211" y="2097190"/>
                </a:lnTo>
                <a:lnTo>
                  <a:pt x="0" y="20971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32361" y="7197119"/>
            <a:ext cx="2233154" cy="2200474"/>
          </a:xfrm>
          <a:custGeom>
            <a:avLst/>
            <a:gdLst/>
            <a:ahLst/>
            <a:cxnLst/>
            <a:rect r="r" b="b" t="t" l="l"/>
            <a:pathLst>
              <a:path h="2200474" w="2233154">
                <a:moveTo>
                  <a:pt x="0" y="0"/>
                </a:moveTo>
                <a:lnTo>
                  <a:pt x="2233154" y="0"/>
                </a:lnTo>
                <a:lnTo>
                  <a:pt x="2233154" y="2200474"/>
                </a:lnTo>
                <a:lnTo>
                  <a:pt x="0" y="2200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00815" y="3065023"/>
            <a:ext cx="3996758" cy="2822710"/>
          </a:xfrm>
          <a:custGeom>
            <a:avLst/>
            <a:gdLst/>
            <a:ahLst/>
            <a:cxnLst/>
            <a:rect r="r" b="b" t="t" l="l"/>
            <a:pathLst>
              <a:path h="2822710" w="3996758">
                <a:moveTo>
                  <a:pt x="0" y="0"/>
                </a:moveTo>
                <a:lnTo>
                  <a:pt x="3996758" y="0"/>
                </a:lnTo>
                <a:lnTo>
                  <a:pt x="3996758" y="2822710"/>
                </a:lnTo>
                <a:lnTo>
                  <a:pt x="0" y="28227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75410" y="7214184"/>
            <a:ext cx="3783890" cy="2307250"/>
          </a:xfrm>
          <a:custGeom>
            <a:avLst/>
            <a:gdLst/>
            <a:ahLst/>
            <a:cxnLst/>
            <a:rect r="r" b="b" t="t" l="l"/>
            <a:pathLst>
              <a:path h="2307250" w="3783890">
                <a:moveTo>
                  <a:pt x="0" y="0"/>
                </a:moveTo>
                <a:lnTo>
                  <a:pt x="3783890" y="0"/>
                </a:lnTo>
                <a:lnTo>
                  <a:pt x="3783890" y="2307250"/>
                </a:lnTo>
                <a:lnTo>
                  <a:pt x="0" y="230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66580">
            <a:off x="9654716" y="2742945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631316">
            <a:off x="-341565" y="-1602678"/>
            <a:ext cx="8656207" cy="8953145"/>
          </a:xfrm>
          <a:custGeom>
            <a:avLst/>
            <a:gdLst/>
            <a:ahLst/>
            <a:cxnLst/>
            <a:rect r="r" b="b" t="t" l="l"/>
            <a:pathLst>
              <a:path h="8953145" w="8656207">
                <a:moveTo>
                  <a:pt x="0" y="0"/>
                </a:moveTo>
                <a:lnTo>
                  <a:pt x="8656206" y="0"/>
                </a:lnTo>
                <a:lnTo>
                  <a:pt x="8656206" y="8953145"/>
                </a:lnTo>
                <a:lnTo>
                  <a:pt x="0" y="8953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96644" y="1248398"/>
            <a:ext cx="12694711" cy="8683784"/>
          </a:xfrm>
          <a:custGeom>
            <a:avLst/>
            <a:gdLst/>
            <a:ahLst/>
            <a:cxnLst/>
            <a:rect r="r" b="b" t="t" l="l"/>
            <a:pathLst>
              <a:path h="8683784" w="12694711">
                <a:moveTo>
                  <a:pt x="0" y="0"/>
                </a:moveTo>
                <a:lnTo>
                  <a:pt x="12694712" y="0"/>
                </a:lnTo>
                <a:lnTo>
                  <a:pt x="12694712" y="8683784"/>
                </a:lnTo>
                <a:lnTo>
                  <a:pt x="0" y="868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29" r="0" b="-327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82641" y="285738"/>
            <a:ext cx="772271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 spc="341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MODELO DE DATOS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487580">
            <a:off x="8471676" y="-2760733"/>
            <a:ext cx="12810333" cy="13249773"/>
          </a:xfrm>
          <a:custGeom>
            <a:avLst/>
            <a:gdLst/>
            <a:ahLst/>
            <a:cxnLst/>
            <a:rect r="r" b="b" t="t" l="l"/>
            <a:pathLst>
              <a:path h="13249773" w="12810333">
                <a:moveTo>
                  <a:pt x="0" y="0"/>
                </a:moveTo>
                <a:lnTo>
                  <a:pt x="12810334" y="0"/>
                </a:lnTo>
                <a:lnTo>
                  <a:pt x="12810334" y="13249773"/>
                </a:lnTo>
                <a:lnTo>
                  <a:pt x="0" y="13249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2968643" y="-1257141"/>
            <a:ext cx="9352494" cy="5237396"/>
          </a:xfrm>
          <a:custGeom>
            <a:avLst/>
            <a:gdLst/>
            <a:ahLst/>
            <a:cxnLst/>
            <a:rect r="r" b="b" t="t" l="l"/>
            <a:pathLst>
              <a:path h="5237396" w="9352494">
                <a:moveTo>
                  <a:pt x="0" y="0"/>
                </a:moveTo>
                <a:lnTo>
                  <a:pt x="9352494" y="0"/>
                </a:lnTo>
                <a:lnTo>
                  <a:pt x="9352494" y="5237396"/>
                </a:lnTo>
                <a:lnTo>
                  <a:pt x="0" y="5237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46618" y="1199632"/>
            <a:ext cx="13994763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488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RESULTADOS OBTENIDOS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975069"/>
            <a:ext cx="16230600" cy="260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Se </a:t>
            </a:r>
            <a:r>
              <a:rPr lang="en-US" b="true" sz="3699" spc="81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concretó</a:t>
            </a: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el desarrollo de “Dentro de Psyche”, cumpliendo los objetivos propuestos y ofreciendo un sistema claro, funcional y centrado en el bienestar emocional del usuario, dejando además espacio para futuras mejoras y evolución del proyecto.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3611753" y="4403873"/>
            <a:ext cx="9352494" cy="5237396"/>
          </a:xfrm>
          <a:custGeom>
            <a:avLst/>
            <a:gdLst/>
            <a:ahLst/>
            <a:cxnLst/>
            <a:rect r="r" b="b" t="t" l="l"/>
            <a:pathLst>
              <a:path h="5237396" w="9352494">
                <a:moveTo>
                  <a:pt x="0" y="0"/>
                </a:moveTo>
                <a:lnTo>
                  <a:pt x="9352494" y="0"/>
                </a:lnTo>
                <a:lnTo>
                  <a:pt x="9352494" y="5237397"/>
                </a:lnTo>
                <a:lnTo>
                  <a:pt x="0" y="523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64196" y="6043389"/>
            <a:ext cx="3559608" cy="3750545"/>
          </a:xfrm>
          <a:custGeom>
            <a:avLst/>
            <a:gdLst/>
            <a:ahLst/>
            <a:cxnLst/>
            <a:rect r="r" b="b" t="t" l="l"/>
            <a:pathLst>
              <a:path h="3750545" w="3559608">
                <a:moveTo>
                  <a:pt x="0" y="0"/>
                </a:moveTo>
                <a:lnTo>
                  <a:pt x="3559608" y="0"/>
                </a:lnTo>
                <a:lnTo>
                  <a:pt x="3559608" y="3750545"/>
                </a:lnTo>
                <a:lnTo>
                  <a:pt x="0" y="37505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0569">
            <a:off x="-133144" y="2697905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487580">
            <a:off x="8471676" y="-2760733"/>
            <a:ext cx="12810333" cy="13249773"/>
          </a:xfrm>
          <a:custGeom>
            <a:avLst/>
            <a:gdLst/>
            <a:ahLst/>
            <a:cxnLst/>
            <a:rect r="r" b="b" t="t" l="l"/>
            <a:pathLst>
              <a:path h="13249773" w="12810333">
                <a:moveTo>
                  <a:pt x="0" y="0"/>
                </a:moveTo>
                <a:lnTo>
                  <a:pt x="12810334" y="0"/>
                </a:lnTo>
                <a:lnTo>
                  <a:pt x="12810334" y="13249773"/>
                </a:lnTo>
                <a:lnTo>
                  <a:pt x="0" y="13249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2968643" y="-1257141"/>
            <a:ext cx="9352494" cy="5237396"/>
          </a:xfrm>
          <a:custGeom>
            <a:avLst/>
            <a:gdLst/>
            <a:ahLst/>
            <a:cxnLst/>
            <a:rect r="r" b="b" t="t" l="l"/>
            <a:pathLst>
              <a:path h="5237396" w="9352494">
                <a:moveTo>
                  <a:pt x="0" y="0"/>
                </a:moveTo>
                <a:lnTo>
                  <a:pt x="9352494" y="0"/>
                </a:lnTo>
                <a:lnTo>
                  <a:pt x="9352494" y="5237396"/>
                </a:lnTo>
                <a:lnTo>
                  <a:pt x="0" y="5237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7318" y="784673"/>
            <a:ext cx="15837467" cy="279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488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OBSTACULOS PRESENTADOS DURANTE EL DESARROLLO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20951"/>
            <a:ext cx="16230600" cy="588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Dificultades iniciales en la configuración y conexión de la base de datos con el entorno de desarrollo.</a:t>
            </a:r>
          </a:p>
          <a:p>
            <a:pPr algn="l">
              <a:lnSpc>
                <a:spcPts val="5179"/>
              </a:lnSpc>
            </a:pP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Retrasos en la planificación por diferencias en la disponibilidad de los integrantes del equipo.</a:t>
            </a:r>
          </a:p>
          <a:p>
            <a:pPr algn="l">
              <a:lnSpc>
                <a:spcPts val="5179"/>
              </a:lnSpc>
            </a:pP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81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Dificultades con la implementación de pruebas unitarias y validación de funcionalidades.</a:t>
            </a:r>
          </a:p>
          <a:p>
            <a:pPr algn="l">
              <a:lnSpc>
                <a:spcPts val="517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3611753" y="4403873"/>
            <a:ext cx="9352494" cy="5237396"/>
          </a:xfrm>
          <a:custGeom>
            <a:avLst/>
            <a:gdLst/>
            <a:ahLst/>
            <a:cxnLst/>
            <a:rect r="r" b="b" t="t" l="l"/>
            <a:pathLst>
              <a:path h="5237396" w="9352494">
                <a:moveTo>
                  <a:pt x="0" y="0"/>
                </a:moveTo>
                <a:lnTo>
                  <a:pt x="9352494" y="0"/>
                </a:lnTo>
                <a:lnTo>
                  <a:pt x="9352494" y="5237397"/>
                </a:lnTo>
                <a:lnTo>
                  <a:pt x="0" y="523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66580">
            <a:off x="9654716" y="2742945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631316">
            <a:off x="-341565" y="-1602678"/>
            <a:ext cx="8656207" cy="8953145"/>
          </a:xfrm>
          <a:custGeom>
            <a:avLst/>
            <a:gdLst/>
            <a:ahLst/>
            <a:cxnLst/>
            <a:rect r="r" b="b" t="t" l="l"/>
            <a:pathLst>
              <a:path h="8953145" w="8656207">
                <a:moveTo>
                  <a:pt x="0" y="0"/>
                </a:moveTo>
                <a:lnTo>
                  <a:pt x="8656206" y="0"/>
                </a:lnTo>
                <a:lnTo>
                  <a:pt x="8656206" y="8953145"/>
                </a:lnTo>
                <a:lnTo>
                  <a:pt x="0" y="8953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0749" y="1468727"/>
            <a:ext cx="8343860" cy="9123127"/>
          </a:xfrm>
          <a:custGeom>
            <a:avLst/>
            <a:gdLst/>
            <a:ahLst/>
            <a:cxnLst/>
            <a:rect r="r" b="b" t="t" l="l"/>
            <a:pathLst>
              <a:path h="9123127" w="8343860">
                <a:moveTo>
                  <a:pt x="0" y="0"/>
                </a:moveTo>
                <a:lnTo>
                  <a:pt x="8343860" y="0"/>
                </a:lnTo>
                <a:lnTo>
                  <a:pt x="8343860" y="9123127"/>
                </a:lnTo>
                <a:lnTo>
                  <a:pt x="0" y="9123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0613756" y="-239704"/>
            <a:ext cx="7797854" cy="8526128"/>
          </a:xfrm>
          <a:custGeom>
            <a:avLst/>
            <a:gdLst/>
            <a:ahLst/>
            <a:cxnLst/>
            <a:rect r="r" b="b" t="t" l="l"/>
            <a:pathLst>
              <a:path h="8526128" w="7797854">
                <a:moveTo>
                  <a:pt x="0" y="0"/>
                </a:moveTo>
                <a:lnTo>
                  <a:pt x="7797854" y="0"/>
                </a:lnTo>
                <a:lnTo>
                  <a:pt x="7797854" y="8526127"/>
                </a:lnTo>
                <a:lnTo>
                  <a:pt x="0" y="8526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89768" y="4293855"/>
            <a:ext cx="3708464" cy="4114800"/>
          </a:xfrm>
          <a:custGeom>
            <a:avLst/>
            <a:gdLst/>
            <a:ahLst/>
            <a:cxnLst/>
            <a:rect r="r" b="b" t="t" l="l"/>
            <a:pathLst>
              <a:path h="4114800" w="3708464">
                <a:moveTo>
                  <a:pt x="0" y="0"/>
                </a:moveTo>
                <a:lnTo>
                  <a:pt x="3708464" y="0"/>
                </a:lnTo>
                <a:lnTo>
                  <a:pt x="37084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75678" y="2190856"/>
            <a:ext cx="10536618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488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CONCLUSIONES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66580">
            <a:off x="9654716" y="2742945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631316">
            <a:off x="-341565" y="-1602678"/>
            <a:ext cx="8656207" cy="8953145"/>
          </a:xfrm>
          <a:custGeom>
            <a:avLst/>
            <a:gdLst/>
            <a:ahLst/>
            <a:cxnLst/>
            <a:rect r="r" b="b" t="t" l="l"/>
            <a:pathLst>
              <a:path h="8953145" w="8656207">
                <a:moveTo>
                  <a:pt x="0" y="0"/>
                </a:moveTo>
                <a:lnTo>
                  <a:pt x="8656206" y="0"/>
                </a:lnTo>
                <a:lnTo>
                  <a:pt x="8656206" y="8953145"/>
                </a:lnTo>
                <a:lnTo>
                  <a:pt x="0" y="8953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0749" y="1468727"/>
            <a:ext cx="8343860" cy="9123127"/>
          </a:xfrm>
          <a:custGeom>
            <a:avLst/>
            <a:gdLst/>
            <a:ahLst/>
            <a:cxnLst/>
            <a:rect r="r" b="b" t="t" l="l"/>
            <a:pathLst>
              <a:path h="9123127" w="8343860">
                <a:moveTo>
                  <a:pt x="0" y="0"/>
                </a:moveTo>
                <a:lnTo>
                  <a:pt x="8343860" y="0"/>
                </a:lnTo>
                <a:lnTo>
                  <a:pt x="8343860" y="9123127"/>
                </a:lnTo>
                <a:lnTo>
                  <a:pt x="0" y="9123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0613756" y="-239704"/>
            <a:ext cx="7797854" cy="8526128"/>
          </a:xfrm>
          <a:custGeom>
            <a:avLst/>
            <a:gdLst/>
            <a:ahLst/>
            <a:cxnLst/>
            <a:rect r="r" b="b" t="t" l="l"/>
            <a:pathLst>
              <a:path h="8526128" w="7797854">
                <a:moveTo>
                  <a:pt x="0" y="0"/>
                </a:moveTo>
                <a:lnTo>
                  <a:pt x="7797854" y="0"/>
                </a:lnTo>
                <a:lnTo>
                  <a:pt x="7797854" y="8526127"/>
                </a:lnTo>
                <a:lnTo>
                  <a:pt x="0" y="8526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9967" y="4313489"/>
            <a:ext cx="13428065" cy="268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67"/>
              </a:lnSpc>
            </a:pPr>
            <a:r>
              <a:rPr lang="en-US" b="true" sz="15762" spc="961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GRACIAS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93731" y="3023146"/>
            <a:ext cx="12500537" cy="185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294"/>
              </a:lnSpc>
              <a:spcBef>
                <a:spcPct val="0"/>
              </a:spcBef>
            </a:pPr>
            <a:r>
              <a:rPr lang="en-US" sz="10924" spc="480">
                <a:solidFill>
                  <a:srgbClr val="3D2917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Muchas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DAG5Lq3TAYI</dc:identifier>
  <dcterms:modified xsi:type="dcterms:W3CDTF">2011-08-01T06:04:30Z</dcterms:modified>
  <cp:revision>1</cp:revision>
  <dc:title>Copia de Presentación Número 1 Dentro de Psyche</dc:title>
</cp:coreProperties>
</file>